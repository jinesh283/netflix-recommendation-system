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SVD</c:v>
                </c:pt>
              </c:strCache>
            </c:strRef>
          </c:tx>
          <c:spPr>
            <a:solidFill>
              <a:srgbClr val="46D36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RMSE</c:v>
                  </c:pt>
                  <c:pt idx="1">
                    <c:v>MAE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0.9414</c:v>
                </c:pt>
                <c:pt idx="1">
                  <c:v>0.7354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Item-CF</c:v>
                </c:pt>
              </c:strCache>
            </c:strRef>
          </c:tx>
          <c:spPr>
            <a:solidFill>
              <a:srgbClr val="55555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RMSE</c:v>
                  </c:pt>
                  <c:pt idx="1">
                    <c:v>MAE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1.0481</c:v>
                </c:pt>
                <c:pt idx="1">
                  <c:v>0.8211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AAAAA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33333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AAAAA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>
              <a:solidFill>
                <a:srgbClr val="AAAAAA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1A1A2E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0" cy="5143500"/>
          </a:xfrm>
          <a:prstGeom prst="rect">
            <a:avLst/>
          </a:prstGeom>
          <a:solidFill>
            <a:srgbClr val="E50914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37160"/>
            <a:ext cx="1097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</a:t>
            </a:r>
            <a:endParaRPr lang="en-US" sz="6200" dirty="0"/>
          </a:p>
        </p:txBody>
      </p:sp>
      <p:sp>
        <p:nvSpPr>
          <p:cNvPr id="4" name="Text 2"/>
          <p:cNvSpPr/>
          <p:nvPr/>
        </p:nvSpPr>
        <p:spPr>
          <a:xfrm>
            <a:off x="274320" y="1143000"/>
            <a:ext cx="35661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b="1" spc="-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NETFLIX</a:t>
            </a:r>
            <a:endParaRPr lang="en-US" sz="2000" dirty="0"/>
          </a:p>
          <a:p>
            <a:pPr algn="l" indent="0" marL="0">
              <a:buNone/>
            </a:pPr>
            <a:r>
              <a:rPr lang="en-US" sz="2000" b="1" spc="-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</a:t>
            </a:r>
            <a:endParaRPr lang="en-US" sz="2000" dirty="0"/>
          </a:p>
          <a:p>
            <a:pPr algn="l" indent="0" marL="0">
              <a:buNone/>
            </a:pPr>
            <a:r>
              <a:rPr lang="en-US" sz="2000" b="1" spc="-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74320" y="3200400"/>
            <a:ext cx="3566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SVD + Item-Based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Collaborative Filtering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74320" y="397764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MovieLens 10M Dataset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480560" y="411480"/>
            <a:ext cx="4389120" cy="1737360"/>
          </a:xfrm>
          <a:prstGeom prst="roundRect">
            <a:avLst>
              <a:gd name="adj" fmla="val 6316"/>
            </a:avLst>
          </a:prstGeom>
          <a:solidFill>
            <a:srgbClr val="1A1A2E"/>
          </a:solidFill>
          <a:ln/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663440" y="54864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PRESENTED BY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663440" y="896112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Jaideep Attri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4663440" y="1389888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Jinesh Kumar Vimal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4480560" y="2331720"/>
            <a:ext cx="4389120" cy="960120"/>
          </a:xfrm>
          <a:prstGeom prst="roundRect">
            <a:avLst>
              <a:gd name="adj" fmla="val 11429"/>
            </a:avLst>
          </a:prstGeom>
          <a:solidFill>
            <a:srgbClr val="1A1A2E"/>
          </a:solidFill>
          <a:ln/>
          <a:effectLst>
            <a:outerShdw sx="100000" sy="100000" kx="0" ky="0" algn="bl" rotWithShape="0" blurRad="76200" dist="25400" dir="270000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663440" y="2404872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BRANCH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663440" y="2679192"/>
            <a:ext cx="4023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5C5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Geophysical Technology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4480560" y="3429000"/>
            <a:ext cx="4389120" cy="1371600"/>
          </a:xfrm>
          <a:prstGeom prst="roundRect">
            <a:avLst>
              <a:gd name="adj" fmla="val 8000"/>
            </a:avLst>
          </a:prstGeom>
          <a:solidFill>
            <a:srgbClr val="1A1A2E"/>
          </a:solidFill>
          <a:ln/>
          <a:effectLst>
            <a:outerShdw sx="100000" sy="100000" kx="0" ky="0" algn="bl" rotWithShape="0" blurRad="76200" dist="25400" dir="2700000">
              <a:srgbClr val="000000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663440" y="352044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663440" y="3822192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6D3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Projects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4663440" y="4224528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</a:t>
            </a:r>
            <a:endParaRPr lang="en-US" sz="3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50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OVERVIEW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1005840"/>
          </a:xfrm>
          <a:prstGeom prst="roundRect">
            <a:avLst>
              <a:gd name="adj" fmla="val 9091"/>
            </a:avLst>
          </a:prstGeom>
          <a:solidFill>
            <a:srgbClr val="1A1A2E"/>
          </a:solidFill>
          <a:ln/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96012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Challenge: Given a user's historical ratings on movies, predict what movies they will enjoy next — with high accuracy and personalization.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2103120"/>
            <a:ext cx="2286000" cy="1188720"/>
          </a:xfrm>
          <a:prstGeom prst="roundRect">
            <a:avLst>
              <a:gd name="adj" fmla="val 7692"/>
            </a:avLst>
          </a:prstGeom>
          <a:solidFill>
            <a:srgbClr val="1A1A2E"/>
          </a:solidFill>
          <a:ln/>
          <a:effectLst>
            <a:outerShdw sx="100000" sy="100000" kx="0" ky="0" algn="bl" rotWithShape="0" blurRad="76200" dist="25400" dir="270000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65760" y="214884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50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10M+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365760" y="27432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Ratings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383280" y="2103120"/>
            <a:ext cx="2286000" cy="1188720"/>
          </a:xfrm>
          <a:prstGeom prst="roundRect">
            <a:avLst>
              <a:gd name="adj" fmla="val 7692"/>
            </a:avLst>
          </a:prstGeom>
          <a:solidFill>
            <a:srgbClr val="1A1A2E"/>
          </a:solidFill>
          <a:ln/>
          <a:effectLst>
            <a:outerShdw sx="100000" sy="100000" kx="0" ky="0" algn="bl" rotWithShape="0" blurRad="76200" dist="25400" dir="27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383280" y="214884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5C5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71K+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3383280" y="27432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0" y="2103120"/>
            <a:ext cx="2286000" cy="1188720"/>
          </a:xfrm>
          <a:prstGeom prst="roundRect">
            <a:avLst>
              <a:gd name="adj" fmla="val 7692"/>
            </a:avLst>
          </a:prstGeom>
          <a:solidFill>
            <a:srgbClr val="1A1A2E"/>
          </a:solidFill>
          <a:ln/>
          <a:effectLst>
            <a:outerShdw sx="100000" sy="100000" kx="0" ky="0" algn="bl" rotWithShape="0" blurRad="76200" dist="25400" dir="270000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00800" y="214884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46D3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10K+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6400800" y="27432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Movies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3474720"/>
            <a:ext cx="8412480" cy="1280160"/>
          </a:xfrm>
          <a:prstGeom prst="roundRect">
            <a:avLst>
              <a:gd name="adj" fmla="val 7143"/>
            </a:avLst>
          </a:prstGeom>
          <a:solidFill>
            <a:srgbClr val="1A1A2E"/>
          </a:solidFill>
          <a:ln/>
        </p:spPr>
      </p:sp>
      <p:sp>
        <p:nvSpPr>
          <p:cNvPr id="16" name="Text 14"/>
          <p:cNvSpPr/>
          <p:nvPr/>
        </p:nvSpPr>
        <p:spPr>
          <a:xfrm>
            <a:off x="594360" y="3547872"/>
            <a:ext cx="79552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 Split Strategy
</a:t>
            </a:r>
            <a:pPr indent="0" marL="0">
              <a:buNone/>
            </a:pPr>
            <a:r>
              <a:rPr lang="en-US" sz="13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Train: 80% (8M ratings)  |  Test: 20% (2M ratings)  |  Min 20 ratings/user  |  Timestamp-based split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50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EXPLORATORY DATA ANALYSIS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4114800" cy="1737360"/>
          </a:xfrm>
          <a:prstGeom prst="roundRect">
            <a:avLst>
              <a:gd name="adj" fmla="val 6316"/>
            </a:avLst>
          </a:prstGeom>
          <a:solidFill>
            <a:srgbClr val="16213E"/>
          </a:solidFill>
          <a:ln/>
          <a:effectLst>
            <a:outerShdw sx="100000" sy="100000" kx="0" ky="0" algn="bl" rotWithShape="0" blurRad="76200" dist="25400" dir="2700000">
              <a:srgbClr val="000000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96012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50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⭐ Rating Distribution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371600"/>
            <a:ext cx="384048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Mean: 3.51 | Median: 4.0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Ratings 4.0 most frequent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Right-skewed — users prefer to rate movies they liked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754880" y="868680"/>
            <a:ext cx="4114800" cy="1737360"/>
          </a:xfrm>
          <a:prstGeom prst="roundRect">
            <a:avLst>
              <a:gd name="adj" fmla="val 6316"/>
            </a:avLst>
          </a:prstGeom>
          <a:solidFill>
            <a:srgbClr val="16213E"/>
          </a:solidFill>
          <a:ln/>
          <a:effectLst>
            <a:outerShdw sx="100000" sy="100000" kx="0" ky="0" algn="bl" rotWithShape="0" blurRad="76200" dist="25400" dir="2700000">
              <a:srgbClr val="000000">
                <a:alpha val="2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937760" y="96012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50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👥 User Activity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937760" y="1371600"/>
            <a:ext cx="384048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Range: 20 to 2,698 ratings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Majority rate 20-100 movies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users (&gt;200 ratings) are key predictors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274320" y="2743200"/>
            <a:ext cx="4114800" cy="1737360"/>
          </a:xfrm>
          <a:prstGeom prst="roundRect">
            <a:avLst>
              <a:gd name="adj" fmla="val 6316"/>
            </a:avLst>
          </a:prstGeom>
          <a:solidFill>
            <a:srgbClr val="16213E"/>
          </a:solidFill>
          <a:ln/>
          <a:effectLst>
            <a:outerShdw sx="100000" sy="100000" kx="0" ky="0" algn="bl" rotWithShape="0" blurRad="76200" dist="25400" dir="2700000">
              <a:srgbClr val="000000">
                <a:alpha val="2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7200" y="283464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50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🎬 Movie Popularity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3246120"/>
            <a:ext cx="384048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Long-tail distribution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1% movies get 50% of ratings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Cold-start problem for new titles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754880" y="2743200"/>
            <a:ext cx="4114800" cy="1737360"/>
          </a:xfrm>
          <a:prstGeom prst="roundRect">
            <a:avLst>
              <a:gd name="adj" fmla="val 6316"/>
            </a:avLst>
          </a:prstGeom>
          <a:solidFill>
            <a:srgbClr val="16213E"/>
          </a:solidFill>
          <a:ln/>
          <a:effectLst>
            <a:outerShdw sx="100000" sy="100000" kx="0" ky="0" algn="bl" rotWithShape="0" blurRad="76200" dist="25400" dir="2700000">
              <a:srgbClr val="000000">
                <a:alpha val="2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937760" y="283464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50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📅 Temporal Trends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937760" y="3246120"/>
            <a:ext cx="384048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Coverage: 1995-2009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Peak activity post-2000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Users rate more recent releases higher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50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APPROACH &amp; MODEL DESIGN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4023360" cy="3474720"/>
          </a:xfrm>
          <a:prstGeom prst="roundRect">
            <a:avLst>
              <a:gd name="adj" fmla="val 3158"/>
            </a:avLst>
          </a:prstGeom>
          <a:solidFill>
            <a:srgbClr val="1A1A2E"/>
          </a:solidFill>
          <a:ln/>
          <a:effectLst>
            <a:outerShdw sx="100000" sy="100000" kx="0" ky="0" algn="bl" rotWithShape="0" blurRad="127000" dist="50800" dir="2700000">
              <a:srgbClr val="E50914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0058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50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1: SVD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365760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Matrix Factorization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Decomposes user-item matrix into latent factors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Captures hidden preferences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Factors: 100 | Epochs: 20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Reg: 0.02 | LR: 0.005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Handles sparsity well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846320" y="914400"/>
            <a:ext cx="4023360" cy="3474720"/>
          </a:xfrm>
          <a:prstGeom prst="roundRect">
            <a:avLst>
              <a:gd name="adj" fmla="val 3158"/>
            </a:avLst>
          </a:prstGeom>
          <a:solidFill>
            <a:srgbClr val="1A1A2E"/>
          </a:solidFill>
          <a:ln/>
          <a:effectLst>
            <a:outerShdw sx="100000" sy="100000" kx="0" ky="0" algn="bl" rotWithShape="0" blurRad="101600" dist="25400" dir="2700000">
              <a:srgbClr val="000000">
                <a:alpha val="2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0" y="10058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5C5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2: Item-CF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5029200" y="1554480"/>
            <a:ext cx="365760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Collaborative Filtering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Item-Item cosine similarity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Sparse matrix (scipy)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Neighborhood-based approach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Interpretable recommendations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Explainable: 'Users like you...'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114800" y="237744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55555"/>
                </a:solidFill>
              </a:rPr>
              <a:t>vs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50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INSIGHTS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4114800" cy="1645920"/>
          </a:xfrm>
          <a:prstGeom prst="roundRect">
            <a:avLst>
              <a:gd name="adj" fmla="val 6667"/>
            </a:avLst>
          </a:prstGeom>
          <a:solidFill>
            <a:srgbClr val="16213E"/>
          </a:solidFill>
          <a:ln/>
          <a:effectLst>
            <a:outerShdw sx="100000" sy="100000" kx="0" ky="0" algn="bl" rotWithShape="0" blurRad="76200" dist="25400" dir="27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11480" y="1143000"/>
            <a:ext cx="502920" cy="502920"/>
          </a:xfrm>
          <a:prstGeom prst="ellipse">
            <a:avLst/>
          </a:prstGeom>
          <a:solidFill>
            <a:srgbClr val="E50914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11430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05840" y="1143000"/>
            <a:ext cx="3246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SVD Outperforms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645920"/>
            <a:ext cx="37947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SVD consistently delivers lower error rates due to latent factor modeling that captures complex user-movie preferences hidden in the data.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960120"/>
            <a:ext cx="4114800" cy="1645920"/>
          </a:xfrm>
          <a:prstGeom prst="roundRect">
            <a:avLst>
              <a:gd name="adj" fmla="val 6667"/>
            </a:avLst>
          </a:prstGeom>
          <a:solidFill>
            <a:srgbClr val="16213E"/>
          </a:solidFill>
          <a:ln/>
          <a:effectLst>
            <a:outerShdw sx="100000" sy="100000" kx="0" ky="0" algn="bl" rotWithShape="0" blurRad="76200" dist="25400" dir="2700000">
              <a:srgbClr val="000000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92040" y="1143000"/>
            <a:ext cx="502920" cy="502920"/>
          </a:xfrm>
          <a:prstGeom prst="ellipse">
            <a:avLst/>
          </a:prstGeom>
          <a:solidFill>
            <a:srgbClr val="E50914"/>
          </a:solidFill>
          <a:ln/>
        </p:spPr>
      </p:sp>
      <p:sp>
        <p:nvSpPr>
          <p:cNvPr id="11" name="Text 9"/>
          <p:cNvSpPr/>
          <p:nvPr/>
        </p:nvSpPr>
        <p:spPr>
          <a:xfrm>
            <a:off x="4892040" y="11430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0" y="1143000"/>
            <a:ext cx="3246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Popularity Bias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937760" y="1645920"/>
            <a:ext cx="37947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Item-CF shows bias toward popular movies. Rare or niche films receive lower similarity scores, affecting tail recommendation quality.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2834640"/>
            <a:ext cx="4114800" cy="1645920"/>
          </a:xfrm>
          <a:prstGeom prst="roundRect">
            <a:avLst>
              <a:gd name="adj" fmla="val 6667"/>
            </a:avLst>
          </a:prstGeom>
          <a:solidFill>
            <a:srgbClr val="16213E"/>
          </a:solidFill>
          <a:ln/>
          <a:effectLst>
            <a:outerShdw sx="100000" sy="100000" kx="0" ky="0" algn="bl" rotWithShape="0" blurRad="76200" dist="25400" dir="2700000">
              <a:srgbClr val="000000">
                <a:alpha val="2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11480" y="3017520"/>
            <a:ext cx="502920" cy="502920"/>
          </a:xfrm>
          <a:prstGeom prst="ellipse">
            <a:avLst/>
          </a:prstGeom>
          <a:solidFill>
            <a:srgbClr val="E50914"/>
          </a:solidFill>
          <a:ln/>
        </p:spPr>
      </p:sp>
      <p:sp>
        <p:nvSpPr>
          <p:cNvPr id="16" name="Text 14"/>
          <p:cNvSpPr/>
          <p:nvPr/>
        </p:nvSpPr>
        <p:spPr>
          <a:xfrm>
            <a:off x="411480" y="30175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005840" y="3017520"/>
            <a:ext cx="3246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Cold Start Challenge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7200" y="3520440"/>
            <a:ext cx="37947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models struggle with new users (&lt;20 ratings). Hybrid approach with genre-based popularity fallback mitigates this significantly.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54880" y="2834640"/>
            <a:ext cx="4114800" cy="1645920"/>
          </a:xfrm>
          <a:prstGeom prst="roundRect">
            <a:avLst>
              <a:gd name="adj" fmla="val 6667"/>
            </a:avLst>
          </a:prstGeom>
          <a:solidFill>
            <a:srgbClr val="16213E"/>
          </a:solidFill>
          <a:ln/>
          <a:effectLst>
            <a:outerShdw sx="100000" sy="100000" kx="0" ky="0" algn="bl" rotWithShape="0" blurRad="76200" dist="25400" dir="2700000">
              <a:srgbClr val="000000">
                <a:alpha val="2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92040" y="3017520"/>
            <a:ext cx="502920" cy="502920"/>
          </a:xfrm>
          <a:prstGeom prst="ellipse">
            <a:avLst/>
          </a:prstGeom>
          <a:solidFill>
            <a:srgbClr val="E50914"/>
          </a:solidFill>
          <a:ln/>
        </p:spPr>
      </p:sp>
      <p:sp>
        <p:nvSpPr>
          <p:cNvPr id="21" name="Text 19"/>
          <p:cNvSpPr/>
          <p:nvPr/>
        </p:nvSpPr>
        <p:spPr>
          <a:xfrm>
            <a:off x="4892040" y="30175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486400" y="3017520"/>
            <a:ext cx="3246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MAP@10 Gap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937760" y="3520440"/>
            <a:ext cx="37947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SVD achieves MAP@10 of 0.0015 vs Item-CF 0.0003 — 5x better ranking quality. Crucial for top-N recommendation scenarios.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50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EXPERIMENTAL RESULTS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502920"/>
          </a:xfrm>
          <a:prstGeom prst="rect">
            <a:avLst/>
          </a:prstGeom>
          <a:solidFill>
            <a:srgbClr val="E50914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91440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Metric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743200" y="91440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SVD (Winner ✅)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760720" y="91440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Item-CF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1463040"/>
            <a:ext cx="8412480" cy="64008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46304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RMSE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743200" y="146304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6D3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0.9414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760720" y="146304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1.0481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365760" y="2148840"/>
            <a:ext cx="8412480" cy="64008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214884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743200" y="214884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6D3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0.7354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760720" y="214884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0.8211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365760" y="2834640"/>
            <a:ext cx="8412480" cy="64008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283464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MAP@10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743200" y="283464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6D3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0.0015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760720" y="283464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0.0003</a:t>
            </a:r>
            <a:endParaRPr lang="en-US" sz="1800" dirty="0"/>
          </a:p>
        </p:txBody>
      </p:sp>
      <p:graphicFrame>
        <p:nvGraphicFramePr>
          <p:cNvPr id="20" name="Chart 0" descr=""/>
          <p:cNvGraphicFramePr/>
          <p:nvPr/>
        </p:nvGraphicFramePr>
        <p:xfrm>
          <a:off x="914400" y="3566160"/>
          <a:ext cx="7315200" cy="1371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50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 EXAMPLES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8595360" cy="594360"/>
          </a:xfrm>
          <a:prstGeom prst="roundRect">
            <a:avLst>
              <a:gd name="adj" fmla="val 12308"/>
            </a:avLst>
          </a:prstGeom>
          <a:solidFill>
            <a:srgbClr val="1A1A2E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9144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User 305344  |  SVD Top-5 Personalized Picks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691640"/>
            <a:ext cx="457200" cy="457200"/>
          </a:xfrm>
          <a:prstGeom prst="ellipse">
            <a:avLst/>
          </a:prstGeom>
          <a:solidFill>
            <a:srgbClr val="E50914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691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60120" y="164592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Shawshank Redemption, The (1994)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498080" y="164592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E50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⭐ 4.72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65760" y="2258568"/>
            <a:ext cx="457200" cy="457200"/>
          </a:xfrm>
          <a:prstGeom prst="ellipse">
            <a:avLst/>
          </a:prstGeom>
          <a:solidFill>
            <a:srgbClr val="E50914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" y="22585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60120" y="2212848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Schindler's List (1993)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498080" y="2212848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E50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⭐ 4.68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65760" y="2825496"/>
            <a:ext cx="457200" cy="457200"/>
          </a:xfrm>
          <a:prstGeom prst="ellipse">
            <a:avLst/>
          </a:prstGeom>
          <a:solidFill>
            <a:srgbClr val="F5C518"/>
          </a:solidFill>
          <a:ln/>
        </p:spPr>
      </p:sp>
      <p:sp>
        <p:nvSpPr>
          <p:cNvPr id="15" name="Text 13"/>
          <p:cNvSpPr/>
          <p:nvPr/>
        </p:nvSpPr>
        <p:spPr>
          <a:xfrm>
            <a:off x="365760" y="282549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60120" y="2779776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Godfather, The (1972)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498080" y="2779776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5C5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⭐ 4.61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65760" y="3392424"/>
            <a:ext cx="457200" cy="457200"/>
          </a:xfrm>
          <a:prstGeom prst="ellipse">
            <a:avLst/>
          </a:prstGeom>
          <a:solidFill>
            <a:srgbClr val="F5C518"/>
          </a:solidFill>
          <a:ln/>
        </p:spPr>
      </p:sp>
      <p:sp>
        <p:nvSpPr>
          <p:cNvPr id="19" name="Text 17"/>
          <p:cNvSpPr/>
          <p:nvPr/>
        </p:nvSpPr>
        <p:spPr>
          <a:xfrm>
            <a:off x="365760" y="339242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60120" y="3346704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Angry Men (1957)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498080" y="3346704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5C5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⭐ 4.55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365760" y="3959352"/>
            <a:ext cx="457200" cy="457200"/>
          </a:xfrm>
          <a:prstGeom prst="ellipse">
            <a:avLst/>
          </a:prstGeom>
          <a:solidFill>
            <a:srgbClr val="46D369"/>
          </a:solidFill>
          <a:ln/>
        </p:spPr>
      </p:sp>
      <p:sp>
        <p:nvSpPr>
          <p:cNvPr id="23" name="Text 21"/>
          <p:cNvSpPr/>
          <p:nvPr/>
        </p:nvSpPr>
        <p:spPr>
          <a:xfrm>
            <a:off x="365760" y="39593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60120" y="3913632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Dr. Strangelove (1964)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498080" y="3913632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46D3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⭐ 4.49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274320" y="4572000"/>
            <a:ext cx="8595360" cy="457200"/>
          </a:xfrm>
          <a:prstGeom prst="roundRect">
            <a:avLst>
              <a:gd name="adj" fmla="val 16000"/>
            </a:avLst>
          </a:prstGeom>
          <a:solidFill>
            <a:srgbClr val="0D0D0D"/>
          </a:solidFill>
          <a:ln/>
        </p:spPr>
      </p:sp>
      <p:sp>
        <p:nvSpPr>
          <p:cNvPr id="27" name="Text 25"/>
          <p:cNvSpPr/>
          <p:nvPr/>
        </p:nvSpPr>
        <p:spPr>
          <a:xfrm>
            <a:off x="457200" y="4572000"/>
            <a:ext cx="8321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Explainability: Recommendations generated because similar users with matching genre preferences also highly rated these titles.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E5091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INNOVATION &amp; FUTURE IMPROVEMENTS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4023360" cy="3840480"/>
          </a:xfrm>
          <a:prstGeom prst="roundRect">
            <a:avLst>
              <a:gd name="adj" fmla="val 2857"/>
            </a:avLst>
          </a:prstGeom>
          <a:solidFill>
            <a:srgbClr val="1A1A2E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058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6D3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Built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3657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Hybrid SVD + Popularity scoring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Dynamic alpha (cold-start aware)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Explainable recommendations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Netflix-style interactive dashboard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3-tab Gradio app (deployed live)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 analysis per user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846320" y="914400"/>
            <a:ext cx="4023360" cy="3840480"/>
          </a:xfrm>
          <a:prstGeom prst="roundRect">
            <a:avLst>
              <a:gd name="adj" fmla="val 2857"/>
            </a:avLst>
          </a:prstGeom>
          <a:solidFill>
            <a:srgbClr val="1A1A2E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0" y="10058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C5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Scope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029200" y="1554480"/>
            <a:ext cx="3657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Neural CF (NCF/AutoRec)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NLP genre/tag embeddings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session recommendations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A/B testing framework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NDCG + Diversity metrics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Permanent HuggingFace deploy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D0D0D"/>
          </a:solidFill>
          <a:ln/>
        </p:spPr>
      </p:sp>
      <p:sp>
        <p:nvSpPr>
          <p:cNvPr id="11" name="Text 9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Powered by SVD + Item-CF  |  Dataset: MovieLens 10M  |  RMSE: 0.9414  |  MAP@10: 0.0015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Netflix Recommendation System</dc:title>
  <dc:subject>PptxGenJS Presentation</dc:subject>
  <dc:creator>PptxGenJS</dc:creator>
  <cp:lastModifiedBy>PptxGenJS</cp:lastModifiedBy>
  <cp:revision>1</cp:revision>
  <dcterms:created xsi:type="dcterms:W3CDTF">2026-06-11T08:36:00Z</dcterms:created>
  <dcterms:modified xsi:type="dcterms:W3CDTF">2026-06-11T08:36:00Z</dcterms:modified>
</cp:coreProperties>
</file>